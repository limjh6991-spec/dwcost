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4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969264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700" b="1" dirty="0" err="1">
                <a:solidFill>
                  <a:srgbClr val="1E2761"/>
                </a:solidFill>
                <a:latin typeface="맑은 고딕"/>
                <a:ea typeface="맑은 고딕"/>
              </a:rPr>
              <a:t>비나법인</a:t>
            </a:r>
            <a:r>
              <a:rPr sz="27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sz="2700" b="1" dirty="0" err="1">
                <a:solidFill>
                  <a:srgbClr val="1E2761"/>
                </a:solidFill>
                <a:latin typeface="맑은 고딕"/>
                <a:ea typeface="맑은 고딕"/>
              </a:rPr>
              <a:t>원가결산</a:t>
            </a:r>
            <a:r>
              <a:rPr sz="27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sz="2700" b="1" dirty="0" err="1">
                <a:solidFill>
                  <a:srgbClr val="1E2761"/>
                </a:solidFill>
                <a:latin typeface="맑은 고딕"/>
                <a:ea typeface="맑은 고딕"/>
              </a:rPr>
              <a:t>적용</a:t>
            </a:r>
            <a:r>
              <a:rPr sz="27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sz="2700" b="1" dirty="0" err="1">
                <a:solidFill>
                  <a:srgbClr val="1E2761"/>
                </a:solidFill>
                <a:latin typeface="맑은 고딕"/>
                <a:ea typeface="맑은 고딕"/>
              </a:rPr>
              <a:t>진행현황</a:t>
            </a:r>
            <a:endParaRPr sz="2700" b="1" dirty="0">
              <a:solidFill>
                <a:srgbClr val="1E2761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768" y="841248"/>
            <a:ext cx="11338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6B7080"/>
                </a:solidFill>
                <a:latin typeface="맑은 고딕"/>
                <a:ea typeface="맑은 고딕"/>
              </a:rPr>
              <a:t>본사 원가시스템과 일원화   ·   대상월 202605   ·   보고일 2026-07-10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5532120" cy="1298448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481328"/>
            <a:ext cx="5202936" cy="10789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E2761"/>
                </a:solidFill>
                <a:latin typeface="맑은 고딕"/>
                <a:ea typeface="맑은 고딕"/>
              </a:rPr>
              <a:t>1. 개요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>
                <a:solidFill>
                  <a:srgbClr val="2B2B2B"/>
                </a:solidFill>
                <a:latin typeface="맑은 고딕"/>
                <a:ea typeface="맑은 고딕"/>
              </a:rPr>
              <a:t>목적: 비나법인 원가결산 적용 — </a:t>
            </a:r>
            <a:r>
              <a:rPr sz="1100" b="1">
                <a:solidFill>
                  <a:srgbClr val="2B2B2B"/>
                </a:solidFill>
                <a:latin typeface="맑은 고딕"/>
                <a:ea typeface="맑은 고딕"/>
              </a:rPr>
              <a:t>본사 원가시스템과 일원화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>
                <a:solidFill>
                  <a:srgbClr val="2B2B2B"/>
                </a:solidFill>
                <a:latin typeface="맑은 고딕"/>
                <a:ea typeface="맑은 고딕"/>
              </a:rPr>
              <a:t>대상: 비나법인(VINA), 기준월 202605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>
                <a:solidFill>
                  <a:srgbClr val="2B2B2B"/>
                </a:solidFill>
                <a:latin typeface="맑은 고딕"/>
                <a:ea typeface="맑은 고딕"/>
              </a:rPr>
              <a:t>비나 특화: </a:t>
            </a:r>
            <a:r>
              <a:rPr sz="1100" b="1">
                <a:solidFill>
                  <a:srgbClr val="2B2B2B"/>
                </a:solidFill>
                <a:latin typeface="맑은 고딕"/>
                <a:ea typeface="맑은 고딕"/>
              </a:rPr>
              <a:t>계정 · 통화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98064"/>
            <a:ext cx="5532120" cy="118872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907792"/>
            <a:ext cx="5202936" cy="9692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E2761"/>
                </a:solidFill>
                <a:latin typeface="맑은 고딕"/>
                <a:ea typeface="맑은 고딕"/>
              </a:rPr>
              <a:t>2. 개발 현황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>
                <a:solidFill>
                  <a:srgbClr val="2B2B2B"/>
                </a:solidFill>
                <a:latin typeface="맑은 고딕"/>
                <a:ea typeface="맑은 고딕"/>
              </a:rPr>
              <a:t>DB: 원가결산 실행 함수 </a:t>
            </a:r>
            <a:r>
              <a:rPr sz="1100" b="1">
                <a:solidFill>
                  <a:srgbClr val="2B2B2B"/>
                </a:solidFill>
                <a:latin typeface="맑은 고딕"/>
                <a:ea typeface="맑은 고딕"/>
              </a:rPr>
              <a:t>6종 개발 완료</a:t>
            </a:r>
            <a:r>
              <a:rPr sz="1100" b="0">
                <a:solidFill>
                  <a:srgbClr val="2B2B2B"/>
                </a:solidFill>
                <a:latin typeface="맑은 고딕"/>
                <a:ea typeface="맑은 고딕"/>
              </a:rPr>
              <a:t>, 비나 원가기준정보 구축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>
                <a:solidFill>
                  <a:srgbClr val="2B2B2B"/>
                </a:solidFill>
                <a:latin typeface="맑은 고딕"/>
                <a:ea typeface="맑은 고딕"/>
              </a:rPr>
              <a:t>UI: 비나법인 적용 화면 </a:t>
            </a:r>
            <a:r>
              <a:rPr sz="1100" b="1">
                <a:solidFill>
                  <a:srgbClr val="2B2B2B"/>
                </a:solidFill>
                <a:latin typeface="맑은 고딕"/>
                <a:ea typeface="맑은 고딕"/>
              </a:rPr>
              <a:t>30본 재개발 완료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114800"/>
            <a:ext cx="5532120" cy="242316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4224528"/>
            <a:ext cx="5202936" cy="15549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1E2761"/>
                </a:solidFill>
                <a:latin typeface="맑은 고딕"/>
                <a:ea typeface="맑은 고딕"/>
              </a:rPr>
              <a:t>3. </a:t>
            </a:r>
            <a:r>
              <a:rPr sz="1400" b="1" dirty="0" err="1">
                <a:solidFill>
                  <a:srgbClr val="1E2761"/>
                </a:solidFill>
                <a:latin typeface="맑은 고딕"/>
                <a:ea typeface="맑은 고딕"/>
              </a:rPr>
              <a:t>결산</a:t>
            </a:r>
            <a:r>
              <a:rPr sz="14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맑은 고딕"/>
                <a:ea typeface="맑은 고딕"/>
              </a:rPr>
              <a:t>현황</a:t>
            </a:r>
            <a:endParaRPr sz="14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원가기준정보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구축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/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결산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프로그램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마이그레이션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완료</a:t>
            </a:r>
            <a:endParaRPr sz="1100" b="0" dirty="0">
              <a:solidFill>
                <a:srgbClr val="2B2B2B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202605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결산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생성·검증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완료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— 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재공·제조원가·제품원가·매출원가·손익</a:t>
            </a:r>
            <a:r>
              <a:rPr sz="1100" b="1" dirty="0">
                <a:solidFill>
                  <a:srgbClr val="2B2B2B"/>
                </a:solidFill>
                <a:latin typeface="맑은 고딕"/>
                <a:ea typeface="맑은 고딕"/>
              </a:rPr>
              <a:t> 전 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단계</a:t>
            </a:r>
            <a:r>
              <a:rPr sz="1100" b="1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완료</a:t>
            </a:r>
            <a:endParaRPr sz="1100" b="1" dirty="0">
              <a:solidFill>
                <a:srgbClr val="2B2B2B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전제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기초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재공·재고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및 월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기준환율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임의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(가)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데이터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반영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→ </a:t>
            </a:r>
            <a:r>
              <a:rPr sz="1100" b="1" dirty="0">
                <a:solidFill>
                  <a:srgbClr val="990011"/>
                </a:solidFill>
                <a:latin typeface="맑은 고딕"/>
                <a:ea typeface="맑은 고딕"/>
              </a:rPr>
              <a:t>‘가(假)</a:t>
            </a:r>
            <a:r>
              <a:rPr sz="1100" b="1" dirty="0" err="1">
                <a:solidFill>
                  <a:srgbClr val="990011"/>
                </a:solidFill>
                <a:latin typeface="맑은 고딕"/>
                <a:ea typeface="맑은 고딕"/>
              </a:rPr>
              <a:t>검증</a:t>
            </a:r>
            <a:r>
              <a:rPr sz="1100" b="1" dirty="0">
                <a:solidFill>
                  <a:srgbClr val="990011"/>
                </a:solidFill>
                <a:latin typeface="맑은 고딕"/>
                <a:ea typeface="맑은 고딕"/>
              </a:rPr>
              <a:t>’ </a:t>
            </a:r>
            <a:r>
              <a:rPr sz="1100" b="1" dirty="0" err="1">
                <a:solidFill>
                  <a:srgbClr val="990011"/>
                </a:solidFill>
                <a:latin typeface="맑은 고딕"/>
                <a:ea typeface="맑은 고딕"/>
              </a:rPr>
              <a:t>성격</a:t>
            </a:r>
            <a:endParaRPr lang="ko-KR" altLang="en-US" sz="1100" b="1" dirty="0">
              <a:solidFill>
                <a:srgbClr val="990011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본사</a:t>
            </a:r>
            <a:r>
              <a:rPr lang="en-US" altLang="ko-KR" sz="1100" dirty="0">
                <a:solidFill>
                  <a:srgbClr val="2B2B2B"/>
                </a:solidFill>
                <a:latin typeface="맑은 고딕"/>
                <a:ea typeface="맑은 고딕"/>
              </a:rPr>
              <a:t>(HQ) 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영향</a:t>
            </a:r>
            <a:r>
              <a:rPr lang="en-US" altLang="ko-KR" sz="1100" dirty="0">
                <a:solidFill>
                  <a:srgbClr val="2B2B2B"/>
                </a:solidFill>
                <a:latin typeface="맑은 고딕"/>
                <a:ea typeface="맑은 고딕"/>
              </a:rPr>
              <a:t>: </a:t>
            </a:r>
            <a:r>
              <a:rPr lang="ko-KR" altLang="en-US" sz="1100" b="1" dirty="0" err="1">
                <a:solidFill>
                  <a:srgbClr val="1B6E2E"/>
                </a:solidFill>
                <a:latin typeface="맑은 고딕"/>
                <a:ea typeface="맑은 고딕"/>
              </a:rPr>
              <a:t>무영향</a:t>
            </a:r>
            <a:r>
              <a:rPr lang="ko-KR" altLang="en-US" sz="1100" b="1" dirty="0">
                <a:solidFill>
                  <a:srgbClr val="1B6E2E"/>
                </a:solidFill>
                <a:latin typeface="맑은 고딕"/>
                <a:ea typeface="맑은 고딕"/>
              </a:rPr>
              <a:t> 확인 완료</a:t>
            </a:r>
            <a:endParaRPr lang="ko-KR" altLang="en-US" sz="1100" b="1" dirty="0">
              <a:solidFill>
                <a:srgbClr val="990011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실데이터 기반</a:t>
            </a:r>
            <a:r>
              <a:rPr lang="en-US" altLang="ko-KR" sz="1100" dirty="0">
                <a:solidFill>
                  <a:srgbClr val="2B2B2B"/>
                </a:solidFill>
                <a:latin typeface="맑은 고딕"/>
                <a:ea typeface="맑은 고딕"/>
              </a:rPr>
              <a:t>(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기초</a:t>
            </a:r>
            <a:r>
              <a:rPr lang="en-US" altLang="ko-KR" sz="1100" dirty="0">
                <a:solidFill>
                  <a:srgbClr val="2B2B2B"/>
                </a:solidFill>
                <a:latin typeface="맑은 고딕"/>
                <a:ea typeface="맑은 고딕"/>
              </a:rPr>
              <a:t>,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환율</a:t>
            </a:r>
            <a:r>
              <a:rPr lang="en-US" altLang="ko-KR" sz="1100" dirty="0">
                <a:solidFill>
                  <a:srgbClr val="2B2B2B"/>
                </a:solidFill>
                <a:latin typeface="맑은 고딕"/>
                <a:ea typeface="맑은 고딕"/>
              </a:rPr>
              <a:t>,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판관비</a:t>
            </a:r>
            <a:r>
              <a:rPr lang="en-US" altLang="ko-KR" sz="1100" dirty="0">
                <a:solidFill>
                  <a:srgbClr val="2B2B2B"/>
                </a:solidFill>
                <a:latin typeface="맑은 고딕"/>
                <a:ea typeface="맑은 고딕"/>
              </a:rPr>
              <a:t>) 202605, 202606 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재 결산 및 검증 예정</a:t>
            </a:r>
            <a:endParaRPr sz="1100" b="1" dirty="0">
              <a:solidFill>
                <a:srgbClr val="1B6E2E"/>
              </a:solidFill>
              <a:latin typeface="맑은 고딕"/>
              <a:ea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532120" cy="2606040"/>
          </a:xfrm>
          <a:prstGeom prst="roundRect">
            <a:avLst>
              <a:gd name="adj" fmla="val 4000"/>
            </a:avLst>
          </a:prstGeom>
          <a:solidFill>
            <a:srgbClr val="FB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481328"/>
            <a:ext cx="5202936" cy="11549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1E2761"/>
                </a:solidFill>
                <a:latin typeface="맑은 고딕"/>
                <a:ea typeface="맑은 고딕"/>
              </a:rPr>
              <a:t>4. </a:t>
            </a:r>
            <a:r>
              <a:rPr sz="1400" b="1" dirty="0" err="1">
                <a:solidFill>
                  <a:srgbClr val="1E2761"/>
                </a:solidFill>
                <a:latin typeface="맑은 고딕"/>
                <a:ea typeface="맑은 고딕"/>
              </a:rPr>
              <a:t>문제점</a:t>
            </a:r>
            <a:endParaRPr sz="14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재공·재고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기초</a:t>
            </a:r>
            <a:r>
              <a:rPr sz="1100" b="1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실데이터</a:t>
            </a:r>
            <a:r>
              <a:rPr sz="1100" b="1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미반영</a:t>
            </a:r>
            <a:r>
              <a:rPr sz="1100" b="0" dirty="0">
                <a:solidFill>
                  <a:srgbClr val="6B7080"/>
                </a:solidFill>
                <a:latin typeface="맑은 고딕"/>
                <a:ea typeface="맑은 고딕"/>
              </a:rPr>
              <a:t> (</a:t>
            </a:r>
            <a:r>
              <a:rPr sz="1100" b="0" dirty="0" err="1">
                <a:solidFill>
                  <a:srgbClr val="6B7080"/>
                </a:solidFill>
                <a:latin typeface="맑은 고딕"/>
                <a:ea typeface="맑은 고딕"/>
              </a:rPr>
              <a:t>현재</a:t>
            </a:r>
            <a:r>
              <a:rPr sz="1100" b="0" dirty="0">
                <a:solidFill>
                  <a:srgbClr val="6B708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6B7080"/>
                </a:solidFill>
                <a:latin typeface="맑은 고딕"/>
                <a:ea typeface="맑은 고딕"/>
              </a:rPr>
              <a:t>임의</a:t>
            </a:r>
            <a:r>
              <a:rPr sz="1100" b="0" dirty="0">
                <a:solidFill>
                  <a:srgbClr val="6B708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6B7080"/>
                </a:solidFill>
                <a:latin typeface="맑은 고딕"/>
                <a:ea typeface="맑은 고딕"/>
              </a:rPr>
              <a:t>생성</a:t>
            </a:r>
            <a:r>
              <a:rPr sz="1100" b="0" dirty="0">
                <a:solidFill>
                  <a:srgbClr val="6B7080"/>
                </a:solidFill>
                <a:latin typeface="맑은 고딕"/>
                <a:ea typeface="맑은 고딕"/>
              </a:rPr>
              <a:t>)</a:t>
            </a:r>
            <a:endParaRPr lang="ko-KR" altLang="en-US" sz="1100" dirty="0">
              <a:solidFill>
                <a:srgbClr val="2B2B2B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lang="en-US" altLang="ko-KR"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1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dirty="0">
                <a:latin typeface="+mn-ea"/>
              </a:rPr>
              <a:t>판관비 소스 데이터 누락</a:t>
            </a:r>
            <a:endParaRPr sz="1100" b="0" dirty="0">
              <a:solidFill>
                <a:srgbClr val="6B7080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원가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기준정보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누락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—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부서·계정별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비용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중 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코스트센터</a:t>
            </a:r>
            <a:r>
              <a:rPr sz="1100" b="1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누락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확인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필요</a:t>
            </a:r>
            <a:endParaRPr sz="1100" b="0" dirty="0">
              <a:solidFill>
                <a:srgbClr val="2B2B2B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월평균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환율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정보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필요</a:t>
            </a:r>
            <a:endParaRPr sz="1100" b="0" dirty="0">
              <a:solidFill>
                <a:srgbClr val="6B7080"/>
              </a:solidFill>
              <a:latin typeface="맑은 고딕"/>
              <a:ea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532120" cy="242316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4224528"/>
            <a:ext cx="5202936" cy="11549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1E2761"/>
                </a:solidFill>
                <a:latin typeface="맑은 고딕"/>
                <a:ea typeface="맑은 고딕"/>
              </a:rPr>
              <a:t>5. </a:t>
            </a:r>
            <a:r>
              <a:rPr sz="1400" b="1" dirty="0" err="1">
                <a:solidFill>
                  <a:srgbClr val="1E2761"/>
                </a:solidFill>
                <a:latin typeface="맑은 고딕"/>
                <a:ea typeface="맑은 고딕"/>
              </a:rPr>
              <a:t>추가</a:t>
            </a:r>
            <a:r>
              <a:rPr sz="14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맑은 고딕"/>
                <a:ea typeface="맑은 고딕"/>
              </a:rPr>
              <a:t>협의</a:t>
            </a:r>
            <a:r>
              <a:rPr sz="14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맑은 고딕"/>
                <a:ea typeface="맑은 고딕"/>
              </a:rPr>
              <a:t>필요</a:t>
            </a:r>
            <a:endParaRPr sz="14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월별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환율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B2B2B"/>
                </a:solidFill>
                <a:latin typeface="맑은 고딕"/>
                <a:ea typeface="맑은 고딕"/>
              </a:rPr>
              <a:t>등록</a:t>
            </a:r>
            <a:r>
              <a:rPr sz="11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주기·담당·형식</a:t>
            </a:r>
            <a:r>
              <a:rPr sz="1100" b="1" dirty="0">
                <a:solidFill>
                  <a:srgbClr val="2B2B2B"/>
                </a:solidFill>
                <a:latin typeface="맑은 고딕"/>
                <a:ea typeface="맑은 고딕"/>
              </a:rPr>
              <a:t>(</a:t>
            </a:r>
            <a:r>
              <a:rPr sz="1100" b="1" dirty="0" err="1">
                <a:solidFill>
                  <a:srgbClr val="2B2B2B"/>
                </a:solidFill>
                <a:latin typeface="맑은 고딕"/>
                <a:ea typeface="맑은 고딕"/>
              </a:rPr>
              <a:t>방식</a:t>
            </a:r>
            <a:r>
              <a:rPr sz="1100" b="1" dirty="0">
                <a:solidFill>
                  <a:srgbClr val="2B2B2B"/>
                </a:solidFill>
                <a:latin typeface="맑은 고딕"/>
                <a:ea typeface="맑은 고딕"/>
              </a:rPr>
              <a:t>)</a:t>
            </a:r>
            <a:endParaRPr lang="ko-KR" altLang="en-US" sz="1100" dirty="0">
              <a:solidFill>
                <a:srgbClr val="2B2B2B"/>
              </a:solidFill>
              <a:latin typeface="맑은 고딕"/>
              <a:ea typeface="맑은 고딕"/>
            </a:endParaRP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비용계정은 코드 기준으로 분사와 </a:t>
            </a:r>
            <a:r>
              <a:rPr lang="ko-KR" altLang="en-US" sz="1100" dirty="0" err="1">
                <a:solidFill>
                  <a:srgbClr val="2B2B2B"/>
                </a:solidFill>
                <a:latin typeface="맑은 고딕"/>
                <a:ea typeface="맑은 고딕"/>
              </a:rPr>
              <a:t>비나법인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 동일 하게 사용</a:t>
            </a:r>
            <a:r>
              <a:rPr lang="en-US" altLang="ko-KR" sz="1100" dirty="0">
                <a:solidFill>
                  <a:srgbClr val="2B2B2B"/>
                </a:solidFill>
                <a:latin typeface="맑은 고딕"/>
                <a:ea typeface="맑은 고딕"/>
              </a:rPr>
              <a:t>?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100" b="1" dirty="0">
                <a:solidFill>
                  <a:srgbClr val="1E2761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시스템 사용자</a:t>
            </a:r>
            <a:r>
              <a:rPr lang="en-US" altLang="ko-KR" sz="1100" dirty="0">
                <a:solidFill>
                  <a:srgbClr val="2B2B2B"/>
                </a:solidFill>
                <a:latin typeface="맑은 고딕"/>
                <a:ea typeface="맑은 고딕"/>
              </a:rPr>
              <a:t>(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로그인</a:t>
            </a:r>
            <a:r>
              <a:rPr lang="en-US" altLang="ko-KR" sz="1100" dirty="0">
                <a:solidFill>
                  <a:srgbClr val="2B2B2B"/>
                </a:solidFill>
                <a:latin typeface="맑은 고딕"/>
                <a:ea typeface="맑은 고딕"/>
              </a:rPr>
              <a:t>) </a:t>
            </a:r>
            <a:r>
              <a:rPr lang="ko-KR" altLang="en-US" sz="1100" dirty="0">
                <a:solidFill>
                  <a:srgbClr val="2B2B2B"/>
                </a:solidFill>
                <a:latin typeface="맑은 고딕"/>
                <a:ea typeface="맑은 고딕"/>
              </a:rPr>
              <a:t>계정 세부 필요 여부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100" dirty="0">
              <a:solidFill>
                <a:srgbClr val="2B2B2B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231</Words>
  <Application>Microsoft Office PowerPoint</Application>
  <PresentationFormat>와이드스크린</PresentationFormat>
  <Paragraphs>24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hankyul lem</cp:lastModifiedBy>
  <cp:revision>6</cp:revision>
  <dcterms:created xsi:type="dcterms:W3CDTF">2013-01-27T09:14:16Z</dcterms:created>
  <dcterms:modified xsi:type="dcterms:W3CDTF">2026-07-10T07:56:39Z</dcterms:modified>
  <cp:category/>
</cp:coreProperties>
</file>